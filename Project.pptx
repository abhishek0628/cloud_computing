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/>
          <p:nvPr>
            <p:ph type="pic" idx="21"/>
          </p:nvPr>
        </p:nvSpPr>
        <p:spPr>
          <a:xfrm>
            <a:off x="0" y="0"/>
            <a:ext cx="15966319" cy="10655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3835400" y="699690"/>
            <a:ext cx="12509500" cy="835408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mall section of a modern shell bridge in Qingdao, Shandong, China with a partly cloudy sky above"/>
          <p:cNvSpPr/>
          <p:nvPr>
            <p:ph type="pic" idx="21"/>
          </p:nvPr>
        </p:nvSpPr>
        <p:spPr>
          <a:xfrm>
            <a:off x="3949700" y="698500"/>
            <a:ext cx="12528579" cy="8356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pc="-38" sz="3800"/>
            </a:lvl1pPr>
            <a:lvl2pPr marL="0" indent="457200">
              <a:spcBef>
                <a:spcPts val="1300"/>
              </a:spcBef>
              <a:buSzTx/>
              <a:buNone/>
              <a:defRPr spc="-38" sz="3800"/>
            </a:lvl2pPr>
            <a:lvl3pPr marL="0" indent="914400">
              <a:spcBef>
                <a:spcPts val="1300"/>
              </a:spcBef>
              <a:buSzTx/>
              <a:buNone/>
              <a:defRPr spc="-38" sz="3800"/>
            </a:lvl3pPr>
            <a:lvl4pPr marL="0" indent="1371600">
              <a:spcBef>
                <a:spcPts val="1300"/>
              </a:spcBef>
              <a:buSzTx/>
              <a:buNone/>
              <a:defRPr spc="-38" sz="3800"/>
            </a:lvl4pPr>
            <a:lvl5pPr marL="0" indent="1828800">
              <a:spcBef>
                <a:spcPts val="1300"/>
              </a:spcBef>
              <a:buSzTx/>
              <a:buNone/>
              <a:defRPr spc="-38" sz="38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Attribution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exterior view of a modern building facade covered with aluminium discs under a clear, blue sky "/>
          <p:cNvSpPr/>
          <p:nvPr>
            <p:ph type="pic" sz="quarter" idx="21"/>
          </p:nvPr>
        </p:nvSpPr>
        <p:spPr>
          <a:xfrm>
            <a:off x="6542347" y="698500"/>
            <a:ext cx="5965305" cy="3962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-angle view of a modern, curved building under a cloudy sky"/>
          <p:cNvSpPr/>
          <p:nvPr>
            <p:ph type="pic" sz="quarter" idx="22"/>
          </p:nvPr>
        </p:nvSpPr>
        <p:spPr>
          <a:xfrm>
            <a:off x="6551654" y="5105400"/>
            <a:ext cx="5946692" cy="3962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371600" y="698500"/>
            <a:ext cx="12573000" cy="8369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the Azadi Tower in Tehran, Iran against a clear, bright sky"/>
          <p:cNvSpPr/>
          <p:nvPr>
            <p:ph type="pic" idx="21"/>
          </p:nvPr>
        </p:nvSpPr>
        <p:spPr>
          <a:xfrm>
            <a:off x="-801388" y="0"/>
            <a:ext cx="14607576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Slide Title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ransformer-ACO for SFC Deployment in Non-Terrestrial Networks (NTN)"/>
          <p:cNvSpPr txBox="1"/>
          <p:nvPr>
            <p:ph type="ctrTitle"/>
          </p:nvPr>
        </p:nvSpPr>
        <p:spPr>
          <a:xfrm>
            <a:off x="584755" y="640924"/>
            <a:ext cx="11609057" cy="3302001"/>
          </a:xfrm>
          <a:prstGeom prst="rect">
            <a:avLst/>
          </a:prstGeom>
        </p:spPr>
        <p:txBody>
          <a:bodyPr/>
          <a:lstStyle>
            <a:lvl1pPr defTabSz="388620">
              <a:lnSpc>
                <a:spcPct val="100000"/>
              </a:lnSpc>
              <a:defRPr spc="0" sz="697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Transformer-ACO for SFC Deployment in Non-Terrestrial Networks (NTN)</a:t>
            </a:r>
          </a:p>
        </p:txBody>
      </p:sp>
      <p:sp>
        <p:nvSpPr>
          <p:cNvPr id="172" name="Abhishek Kumar(B220628CS)…"/>
          <p:cNvSpPr txBox="1"/>
          <p:nvPr>
            <p:ph type="subTitle" sz="quarter" idx="1"/>
          </p:nvPr>
        </p:nvSpPr>
        <p:spPr>
          <a:xfrm>
            <a:off x="6577476" y="5838420"/>
            <a:ext cx="5864439" cy="2450283"/>
          </a:xfrm>
          <a:prstGeom prst="rect">
            <a:avLst/>
          </a:prstGeom>
        </p:spPr>
        <p:txBody>
          <a:bodyPr/>
          <a:lstStyle/>
          <a:p>
            <a:pPr defTabSz="352043">
              <a:spcBef>
                <a:spcPts val="900"/>
              </a:spcBef>
              <a:defRPr sz="30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Abhishek Kumar(B220628CS)</a:t>
            </a:r>
          </a:p>
          <a:p>
            <a:pPr defTabSz="352043">
              <a:spcBef>
                <a:spcPts val="900"/>
              </a:spcBef>
              <a:defRPr sz="30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Abhay kumar Bharti(B220628CS)</a:t>
            </a:r>
          </a:p>
          <a:p>
            <a:pPr defTabSz="352043">
              <a:spcBef>
                <a:spcPts val="900"/>
              </a:spcBef>
              <a:defRPr sz="30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Vishal Sonkar(B220589CS)</a:t>
            </a:r>
            <a:endParaRPr b="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AGENDA"/>
          <p:cNvSpPr txBox="1"/>
          <p:nvPr>
            <p:ph type="ctrTitle"/>
          </p:nvPr>
        </p:nvSpPr>
        <p:spPr>
          <a:xfrm>
            <a:off x="584755" y="353255"/>
            <a:ext cx="11609057" cy="1618097"/>
          </a:xfrm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175" name="Introduction &amp; Motivation…"/>
          <p:cNvSpPr txBox="1"/>
          <p:nvPr>
            <p:ph type="subTitle" idx="1"/>
          </p:nvPr>
        </p:nvSpPr>
        <p:spPr>
          <a:xfrm>
            <a:off x="698499" y="2367778"/>
            <a:ext cx="11607801" cy="5776227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AutoNum type="arabicPeriod" startAt="1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Introduction &amp; Motivation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AutoNum type="arabicPeriod" startAt="2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Problem Definition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AutoNum type="arabicPeriod" startAt="3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Proposed Solution: Transformer-ACO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AutoNum type="arabicPeriod" startAt="4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Algorithm Details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AutoNum type="arabicPeriod" startAt="5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Simulation &amp; Experimental Setup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AutoNum type="arabicPeriod" startAt="6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Results &amp; Performance Analysis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AutoNum type="arabicPeriod" startAt="7"/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Conclusion &amp; Future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Introduction"/>
          <p:cNvSpPr txBox="1"/>
          <p:nvPr>
            <p:ph type="ctrTitle"/>
          </p:nvPr>
        </p:nvSpPr>
        <p:spPr>
          <a:xfrm>
            <a:off x="697871" y="401207"/>
            <a:ext cx="11609058" cy="1456400"/>
          </a:xfrm>
          <a:prstGeom prst="rect">
            <a:avLst/>
          </a:prstGeom>
        </p:spPr>
        <p:txBody>
          <a:bodyPr/>
          <a:lstStyle/>
          <a:p>
            <a:pPr/>
            <a:r>
              <a:t>Introduction</a:t>
            </a:r>
          </a:p>
        </p:txBody>
      </p:sp>
      <p:sp>
        <p:nvSpPr>
          <p:cNvPr id="178" name="NTNs (satellite networks) have dynamic topology and constrained resources.…"/>
          <p:cNvSpPr txBox="1"/>
          <p:nvPr>
            <p:ph type="subTitle" idx="1"/>
          </p:nvPr>
        </p:nvSpPr>
        <p:spPr>
          <a:xfrm>
            <a:off x="698499" y="2496037"/>
            <a:ext cx="11607801" cy="5150137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NTNs (satellite networks) have </a:t>
            </a:r>
            <a:r>
              <a:t>dynamic topology and constrained resources</a:t>
            </a:r>
            <a:r>
              <a:rPr b="0"/>
              <a:t>.</a:t>
            </a:r>
            <a:endParaRPr b="0"/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SFC deployment requires </a:t>
            </a:r>
            <a:r>
              <a:rPr b="1"/>
              <a:t>routing + VNF placement</a:t>
            </a:r>
            <a:r>
              <a:t> under resource and delay constraints.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Traditional approaches: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Greedy: fast, poor load balance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ACO: may explore inefficient paths in large networks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Deep learning: retraining needed when topology changes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Goal:</a:t>
            </a:r>
            <a:r>
              <a:t> Combine AI + optimization for efficient, scalable SFC deployment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roblem Defintion"/>
          <p:cNvSpPr txBox="1"/>
          <p:nvPr>
            <p:ph type="ctrTitle"/>
          </p:nvPr>
        </p:nvSpPr>
        <p:spPr>
          <a:xfrm>
            <a:off x="697871" y="439122"/>
            <a:ext cx="11609058" cy="1456400"/>
          </a:xfrm>
          <a:prstGeom prst="rect">
            <a:avLst/>
          </a:prstGeom>
        </p:spPr>
        <p:txBody>
          <a:bodyPr/>
          <a:lstStyle/>
          <a:p>
            <a:pPr/>
            <a:r>
              <a:t>Problem Defintion</a:t>
            </a:r>
          </a:p>
        </p:txBody>
      </p:sp>
      <p:sp>
        <p:nvSpPr>
          <p:cNvPr id="181" name="Given:…"/>
          <p:cNvSpPr txBox="1"/>
          <p:nvPr>
            <p:ph type="subTitle" idx="1"/>
          </p:nvPr>
        </p:nvSpPr>
        <p:spPr>
          <a:xfrm>
            <a:off x="698499" y="2949090"/>
            <a:ext cx="11607801" cy="6018427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Given: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Network graph </a:t>
            </a:r>
            <a:r>
              <a:rPr>
                <a:latin typeface="STIX Two Math Regular"/>
                <a:ea typeface="STIX Two Math Regular"/>
                <a:cs typeface="STIX Two Math Regular"/>
                <a:sym typeface="STIX Two Math Regular"/>
              </a:rPr>
              <a:t>G =(V,E)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SFC request </a:t>
            </a:r>
            <a:r>
              <a:rPr>
                <a:latin typeface="STIX Two Math Regular"/>
                <a:ea typeface="STIX Two Math Regular"/>
                <a:cs typeface="STIX Two Math Regular"/>
                <a:sym typeface="STIX Two Math Regular"/>
              </a:rPr>
              <a:t>ρ </a:t>
            </a:r>
            <a:r>
              <a:t>with a sequence of VNFs VNF1 ,...,VNFk and resource demands</a:t>
            </a:r>
          </a:p>
          <a:p>
            <a:pPr defTabSz="457200">
              <a:spcBef>
                <a:spcPts val="1200"/>
              </a:spcBef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Find: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Routing path s∗ from source to destination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VNF embedding v∗ on nodes</a:t>
            </a:r>
          </a:p>
          <a:p>
            <a:pPr defTabSz="457200">
              <a:spcBef>
                <a:spcPts val="1200"/>
              </a:spcBef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Objectives: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1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Minimize resource variance and deployment cost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1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Maximize communication success rate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1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Keep communication delay low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Transformer-ACO Overview"/>
          <p:cNvSpPr txBox="1"/>
          <p:nvPr>
            <p:ph type="ctrTitle"/>
          </p:nvPr>
        </p:nvSpPr>
        <p:spPr>
          <a:xfrm>
            <a:off x="572117" y="615647"/>
            <a:ext cx="11609057" cy="1456400"/>
          </a:xfrm>
          <a:prstGeom prst="rect">
            <a:avLst/>
          </a:prstGeom>
        </p:spPr>
        <p:txBody>
          <a:bodyPr/>
          <a:lstStyle>
            <a:lvl1pPr defTabSz="406908">
              <a:lnSpc>
                <a:spcPct val="100000"/>
              </a:lnSpc>
              <a:defRPr spc="0" sz="7297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Transformer-ACO Overview</a:t>
            </a:r>
          </a:p>
        </p:txBody>
      </p:sp>
      <p:sp>
        <p:nvSpPr>
          <p:cNvPr id="185" name="Hybrid approach combining:…"/>
          <p:cNvSpPr txBox="1"/>
          <p:nvPr>
            <p:ph type="subTitle" idx="1"/>
          </p:nvPr>
        </p:nvSpPr>
        <p:spPr>
          <a:xfrm>
            <a:off x="698499" y="2857277"/>
            <a:ext cx="11607801" cy="4664452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Hybrid approach combining: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AutoNum type="arabicPeriod" startAt="1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Transformer</a:t>
            </a:r>
            <a:r>
              <a:t> → encodes SFC and resource states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AutoNum type="arabicPeriod" startAt="1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ACO</a:t>
            </a:r>
            <a:r>
              <a:t> → searches routing paths guided by neural heuristics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Process: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AutoNum type="arabicPeriod" startAt="1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Neural modules learn </a:t>
            </a:r>
            <a:r>
              <a:rPr b="1"/>
              <a:t>heuristic functions</a:t>
            </a:r>
            <a:r>
              <a:t> for routing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AutoNum type="arabicPeriod" startAt="1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Ant colony explores multiple candidate paths</a:t>
            </a:r>
          </a:p>
          <a:p>
            <a:pPr lvl="1" marL="914400" indent="-317500" defTabSz="457200">
              <a:spcBef>
                <a:spcPts val="1200"/>
              </a:spcBef>
              <a:buSzPct val="100000"/>
              <a:buFont typeface="Times Roman"/>
              <a:buAutoNum type="arabicPeriod" startAt="1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Transformer decoder performs </a:t>
            </a:r>
            <a:r>
              <a:rPr b="1"/>
              <a:t>auto-regressive VNF embedding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Network Encoder Module (GNN)"/>
          <p:cNvSpPr txBox="1"/>
          <p:nvPr>
            <p:ph type="ctrTitle"/>
          </p:nvPr>
        </p:nvSpPr>
        <p:spPr>
          <a:xfrm>
            <a:off x="597393" y="160669"/>
            <a:ext cx="11609058" cy="1325738"/>
          </a:xfrm>
          <a:prstGeom prst="rect">
            <a:avLst/>
          </a:prstGeom>
        </p:spPr>
        <p:txBody>
          <a:bodyPr/>
          <a:lstStyle>
            <a:lvl1pPr defTabSz="352043">
              <a:lnSpc>
                <a:spcPct val="100000"/>
              </a:lnSpc>
              <a:spcBef>
                <a:spcPts val="1000"/>
              </a:spcBef>
              <a:defRPr spc="0" sz="6314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Network Encoder Module (GNN)</a:t>
            </a:r>
          </a:p>
        </p:txBody>
      </p:sp>
      <p:sp>
        <p:nvSpPr>
          <p:cNvPr id="188" name="Captures topology and resource status of nodes/edges…"/>
          <p:cNvSpPr txBox="1"/>
          <p:nvPr>
            <p:ph type="subTitle" idx="1"/>
          </p:nvPr>
        </p:nvSpPr>
        <p:spPr>
          <a:xfrm>
            <a:off x="698500" y="2572442"/>
            <a:ext cx="11607801" cy="4608716"/>
          </a:xfrm>
          <a:prstGeom prst="rect">
            <a:avLst/>
          </a:prstGeom>
        </p:spPr>
        <p:txBody>
          <a:bodyPr/>
          <a:lstStyle/>
          <a:p>
            <a:pPr marL="420623" indent="-292100" defTabSz="420623">
              <a:spcBef>
                <a:spcPts val="1100"/>
              </a:spcBef>
              <a:buSzPct val="123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Captures </a:t>
            </a:r>
            <a:r>
              <a:t>topology and resource status</a:t>
            </a:r>
            <a:r>
              <a:rPr b="0"/>
              <a:t> of nodes/edges</a:t>
            </a:r>
            <a:endParaRPr b="0"/>
          </a:p>
          <a:p>
            <a:pPr marL="420623" indent="-292100" defTabSz="420623">
              <a:spcBef>
                <a:spcPts val="1100"/>
              </a:spcBef>
              <a:buSzPct val="123000"/>
              <a:buFont typeface="Times Roman"/>
              <a:buChar char="•"/>
              <a:defRPr b="0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Node update equation: </a:t>
            </a:r>
          </a:p>
          <a:p>
            <a:pPr marL="420623" indent="-292100" defTabSz="420623">
              <a:spcBef>
                <a:spcPts val="1100"/>
              </a:spcBef>
              <a:buSzPct val="123000"/>
              <a:buFont typeface="Times Roman"/>
              <a:buChar char="•"/>
              <a:defRPr b="0" sz="23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20623" indent="-292100" defTabSz="420623">
              <a:spcBef>
                <a:spcPts val="1100"/>
              </a:spcBef>
              <a:buSzPct val="123000"/>
              <a:buFont typeface="Times Roman"/>
              <a:buChar char="•"/>
              <a:defRPr b="0" sz="23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20623" indent="-292100" defTabSz="420623">
              <a:spcBef>
                <a:spcPts val="1100"/>
              </a:spcBef>
              <a:buSzPct val="123000"/>
              <a:buFont typeface="Times Roman"/>
              <a:buChar char="•"/>
              <a:defRPr b="0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Edge update equation:</a:t>
            </a:r>
          </a:p>
          <a:p>
            <a:pPr defTabSz="420623">
              <a:defRPr b="0" sz="2300">
                <a:latin typeface="STIX Two Math Regular"/>
                <a:ea typeface="STIX Two Math Regular"/>
                <a:cs typeface="STIX Two Math Regular"/>
                <a:sym typeface="STIX Two Math Regular"/>
              </a:defRPr>
            </a:pPr>
          </a:p>
          <a:p>
            <a:pPr defTabSz="420623">
              <a:defRPr b="0" sz="23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20623">
              <a:defRPr b="0" sz="23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20623" indent="-292100" defTabSz="420623">
              <a:spcBef>
                <a:spcPts val="1100"/>
              </a:spcBef>
              <a:buSzPct val="123000"/>
              <a:buFont typeface="Times Roman"/>
              <a:buChar char="•"/>
              <a:defRPr b="0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Output:</a:t>
            </a:r>
            <a:r>
              <a:t> enriched features Xi , Yi,j for Transformer encoder</a:t>
            </a:r>
          </a:p>
        </p:txBody>
      </p:sp>
      <p:pic>
        <p:nvPicPr>
          <p:cNvPr id="189" name="Screenshot 2025-12-03 at 10.26.33 PM.png" descr="Screenshot 2025-12-03 at 10.26.3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500" y="2572442"/>
            <a:ext cx="4584701" cy="876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Screenshot 2025-12-03 at 10.27.39 PM.png" descr="Screenshot 2025-12-03 at 10.27.39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688" y="5728569"/>
            <a:ext cx="3790723" cy="8475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FC Request Encoder"/>
          <p:cNvSpPr txBox="1"/>
          <p:nvPr>
            <p:ph type="ctrTitle"/>
          </p:nvPr>
        </p:nvSpPr>
        <p:spPr>
          <a:xfrm>
            <a:off x="697871" y="931604"/>
            <a:ext cx="11609058" cy="1456400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SFC Request Encoder</a:t>
            </a:r>
          </a:p>
        </p:txBody>
      </p:sp>
      <p:sp>
        <p:nvSpPr>
          <p:cNvPr id="193" name="Input: VNF sequence matrix…"/>
          <p:cNvSpPr txBox="1"/>
          <p:nvPr>
            <p:ph type="subTitle" idx="1"/>
          </p:nvPr>
        </p:nvSpPr>
        <p:spPr>
          <a:xfrm>
            <a:off x="698499" y="3594581"/>
            <a:ext cx="11607801" cy="4647271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Input: VNF sequence matrix</a:t>
            </a:r>
            <a:endParaRPr>
              <a:latin typeface="STIX Two Math Regular"/>
              <a:ea typeface="STIX Two Math Regular"/>
              <a:cs typeface="STIX Two Math Regular"/>
              <a:sym typeface="STIX Two Math Regular"/>
            </a:endParaRP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Xk representing resource requirements</a:t>
            </a:r>
          </a:p>
          <a:p>
            <a:pPr defTabSz="457200">
              <a:spcBef>
                <a:spcPts val="1200"/>
              </a:spcBef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Self-Attention:</a:t>
            </a:r>
            <a:endParaRPr b="0"/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Output:</a:t>
            </a:r>
            <a:r>
              <a:t> contextual embedding for each VNF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Purpose:</a:t>
            </a:r>
            <a:r>
              <a:t> represent SFC request to guide decoder embedding decisions</a:t>
            </a:r>
          </a:p>
        </p:txBody>
      </p:sp>
      <p:pic>
        <p:nvPicPr>
          <p:cNvPr id="194" name="Screenshot 2025-12-03 at 10.28.09 PM.png" descr="Screenshot 2025-12-03 at 10.28.0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6899" y="5216402"/>
            <a:ext cx="5599129" cy="8810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source-Node Matching Attention"/>
          <p:cNvSpPr txBox="1"/>
          <p:nvPr>
            <p:ph type="ctrTitle"/>
          </p:nvPr>
        </p:nvSpPr>
        <p:spPr>
          <a:xfrm>
            <a:off x="697871" y="1361306"/>
            <a:ext cx="11609058" cy="886163"/>
          </a:xfrm>
          <a:prstGeom prst="rect">
            <a:avLst/>
          </a:prstGeom>
        </p:spPr>
        <p:txBody>
          <a:bodyPr/>
          <a:lstStyle>
            <a:lvl1pPr defTabSz="292607">
              <a:lnSpc>
                <a:spcPct val="100000"/>
              </a:lnSpc>
              <a:defRPr spc="0" sz="5248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Resource-Node Matching Attention</a:t>
            </a:r>
          </a:p>
        </p:txBody>
      </p:sp>
      <p:sp>
        <p:nvSpPr>
          <p:cNvPr id="197" name=".Computes compatibility score of each node/edge for embedding VNFs:…"/>
          <p:cNvSpPr txBox="1"/>
          <p:nvPr>
            <p:ph type="subTitle" idx="1"/>
          </p:nvPr>
        </p:nvSpPr>
        <p:spPr>
          <a:xfrm>
            <a:off x="698499" y="3302720"/>
            <a:ext cx="11607801" cy="4792410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sz="3500"/>
              <a:t>.</a:t>
            </a:r>
            <a:r>
              <a:t>Computes </a:t>
            </a:r>
            <a:r>
              <a:rPr b="1"/>
              <a:t>compatibility score</a:t>
            </a:r>
            <a:r>
              <a:t> of each node/edge for embedding VNFs: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Aggregates scores across VNFs for a path:</a:t>
            </a:r>
          </a:p>
          <a:p>
            <a:pPr defTabSz="457200"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Effect:</a:t>
            </a:r>
            <a:r>
              <a:t> highlights edges/nodes best suited for current VNF</a:t>
            </a:r>
          </a:p>
        </p:txBody>
      </p:sp>
      <p:pic>
        <p:nvPicPr>
          <p:cNvPr id="198" name="Screenshot 2025-12-03 at 10.28.40 PM.png" descr="Screenshot 2025-12-03 at 10.28.4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0357" y="4123396"/>
            <a:ext cx="2679701" cy="647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Screenshot 2025-12-03 at 10.29.12 PM.png" descr="Screenshot 2025-12-03 at 10.29.1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7657" y="5525571"/>
            <a:ext cx="2705101" cy="850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VNF Embedding Decision Module"/>
          <p:cNvSpPr txBox="1"/>
          <p:nvPr>
            <p:ph type="ctrTitle"/>
          </p:nvPr>
        </p:nvSpPr>
        <p:spPr>
          <a:xfrm>
            <a:off x="697871" y="1336030"/>
            <a:ext cx="11609058" cy="1074881"/>
          </a:xfrm>
          <a:prstGeom prst="rect">
            <a:avLst/>
          </a:prstGeom>
        </p:spPr>
        <p:txBody>
          <a:bodyPr/>
          <a:lstStyle>
            <a:lvl1pPr defTabSz="342900">
              <a:lnSpc>
                <a:spcPct val="100000"/>
              </a:lnSpc>
              <a:defRPr spc="0" sz="615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VNF Embedding Decision Module</a:t>
            </a:r>
          </a:p>
        </p:txBody>
      </p:sp>
      <p:sp>
        <p:nvSpPr>
          <p:cNvPr id="202" name="Transformer Decoder: auto-regressive embedding…"/>
          <p:cNvSpPr txBox="1"/>
          <p:nvPr>
            <p:ph type="subTitle" sz="half" idx="1"/>
          </p:nvPr>
        </p:nvSpPr>
        <p:spPr>
          <a:xfrm>
            <a:off x="698499" y="3658315"/>
            <a:ext cx="11607801" cy="4350568"/>
          </a:xfrm>
          <a:prstGeom prst="rect">
            <a:avLst/>
          </a:prstGeom>
        </p:spPr>
        <p:txBody>
          <a:bodyPr/>
          <a:lstStyle/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Transformer Decoder:</a:t>
            </a:r>
            <a:r>
              <a:t> auto-regressive embedding</a:t>
            </a: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Inputs:</a:t>
            </a:r>
          </a:p>
          <a:p>
            <a:pPr lvl="1" marL="795527" indent="-276225" defTabSz="397763">
              <a:spcBef>
                <a:spcPts val="1000"/>
              </a:spcBef>
              <a:buSzPct val="123000"/>
              <a:buFont typeface="Times Roman"/>
              <a:buChar char="◦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Encoded SFC request HE </a:t>
            </a:r>
          </a:p>
          <a:p>
            <a:pPr lvl="1" marL="795527" indent="-276225" defTabSz="397763">
              <a:spcBef>
                <a:spcPts val="1000"/>
              </a:spcBef>
              <a:buSzPct val="123000"/>
              <a:buFont typeface="Times Roman"/>
              <a:buChar char="◦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Residual path resources </a:t>
            </a:r>
            <a:r>
              <a:rPr>
                <a:latin typeface="STIX Two Math Regular"/>
                <a:ea typeface="STIX Two Math Regular"/>
                <a:cs typeface="STIX Two Math Regular"/>
                <a:sym typeface="STIX Two Math Regular"/>
              </a:rPr>
              <a:t>R</a:t>
            </a: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Encoder-Decoder Attention:</a:t>
            </a:r>
            <a:endParaRPr b="0"/>
          </a:p>
          <a:p>
            <a:pPr defTabSz="397763"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397763"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Softmax</a:t>
            </a:r>
            <a:r>
              <a:t> outputs probability for embedding each VNF on each node</a:t>
            </a: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Resources updated after each embedding</a:t>
            </a:r>
          </a:p>
        </p:txBody>
      </p:sp>
      <p:pic>
        <p:nvPicPr>
          <p:cNvPr id="203" name="Screenshot 2025-12-03 at 10.33.46 PM.png" descr="Screenshot 2025-12-03 at 10.33.4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9717" y="5995592"/>
            <a:ext cx="5423412" cy="5423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Loss Function &amp; Training"/>
          <p:cNvSpPr txBox="1"/>
          <p:nvPr>
            <p:ph type="ctrTitle"/>
          </p:nvPr>
        </p:nvSpPr>
        <p:spPr>
          <a:xfrm>
            <a:off x="697871" y="1020072"/>
            <a:ext cx="11609058" cy="1288613"/>
          </a:xfrm>
          <a:prstGeom prst="rect">
            <a:avLst/>
          </a:prstGeom>
        </p:spPr>
        <p:txBody>
          <a:bodyPr/>
          <a:lstStyle>
            <a:lvl1pPr defTabSz="434340">
              <a:lnSpc>
                <a:spcPct val="100000"/>
              </a:lnSpc>
              <a:defRPr spc="0" sz="779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Loss Function &amp; Training</a:t>
            </a:r>
          </a:p>
        </p:txBody>
      </p:sp>
      <p:sp>
        <p:nvSpPr>
          <p:cNvPr id="206" name=". Resource variance function:…"/>
          <p:cNvSpPr txBox="1"/>
          <p:nvPr>
            <p:ph type="subTitle" idx="1"/>
          </p:nvPr>
        </p:nvSpPr>
        <p:spPr>
          <a:xfrm>
            <a:off x="698500" y="2848785"/>
            <a:ext cx="11607800" cy="5969629"/>
          </a:xfrm>
          <a:prstGeom prst="rect">
            <a:avLst/>
          </a:prstGeom>
        </p:spPr>
        <p:txBody>
          <a:bodyPr/>
          <a:lstStyle/>
          <a:p>
            <a:pPr defTabSz="397763">
              <a:spcBef>
                <a:spcPts val="1000"/>
              </a:spcBef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. Resource variance function:</a:t>
            </a:r>
          </a:p>
          <a:p>
            <a:pPr defTabSz="397763">
              <a:spcBef>
                <a:spcPts val="1000"/>
              </a:spcBef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397763">
              <a:spcBef>
                <a:spcPts val="1000"/>
              </a:spcBef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Training objective:</a:t>
            </a:r>
            <a:r>
              <a:t> minimize expected variance:</a:t>
            </a: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Gradient (REINFORCE):</a:t>
            </a:r>
            <a:endParaRPr b="0"/>
          </a:p>
          <a:p>
            <a:pPr defTabSz="397763">
              <a:defRPr b="0" sz="2175">
                <a:latin typeface="STIX Two Math Regular"/>
                <a:ea typeface="STIX Two Math Regular"/>
                <a:cs typeface="STIX Two Math Regular"/>
                <a:sym typeface="STIX Two Math Regular"/>
              </a:defRPr>
            </a:pP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defRPr b="0"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Epsilon-greedy strategy</a:t>
            </a:r>
            <a:r>
              <a:t> used to explore node embeddings</a:t>
            </a:r>
          </a:p>
          <a:p>
            <a:pPr marL="397763" indent="-276225" defTabSz="397763">
              <a:spcBef>
                <a:spcPts val="1000"/>
              </a:spcBef>
              <a:buSzPct val="123000"/>
              <a:buFont typeface="Times Roman"/>
              <a:buChar char="•"/>
              <a:tabLst>
                <a:tab pos="114300" algn="l"/>
                <a:tab pos="393700" algn="l"/>
              </a:tabLst>
              <a:defRPr b="0" sz="1044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397763">
              <a:defRPr b="0" sz="1044">
                <a:latin typeface="STIX Two Math Regular"/>
                <a:ea typeface="STIX Two Math Regular"/>
                <a:cs typeface="STIX Two Math Regular"/>
                <a:sym typeface="STIX Two Math Regular"/>
              </a:defRPr>
            </a:pPr>
          </a:p>
        </p:txBody>
      </p:sp>
      <p:pic>
        <p:nvPicPr>
          <p:cNvPr id="207" name="Screenshot 2025-12-03 at 10.37.48 PM.png" descr="Screenshot 2025-12-03 at 10.37.4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97371" y="3273487"/>
            <a:ext cx="4394201" cy="596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Screenshot 2025-12-03 at 10.38.07 PM.png" descr="Screenshot 2025-12-03 at 10.38.07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92592" y="4835190"/>
            <a:ext cx="2679701" cy="482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Screenshot 2025-12-03 at 10.38.43 PM.png" descr="Screenshot 2025-12-03 at 10.38.43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79691" y="6537358"/>
            <a:ext cx="4648201" cy="546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Heuristic Function Generation"/>
          <p:cNvSpPr txBox="1"/>
          <p:nvPr>
            <p:ph type="ctrTitle"/>
          </p:nvPr>
        </p:nvSpPr>
        <p:spPr>
          <a:xfrm>
            <a:off x="697871" y="1361306"/>
            <a:ext cx="11609058" cy="1456400"/>
          </a:xfrm>
          <a:prstGeom prst="rect">
            <a:avLst/>
          </a:prstGeom>
        </p:spPr>
        <p:txBody>
          <a:bodyPr/>
          <a:lstStyle>
            <a:lvl1pPr defTabSz="384047">
              <a:lnSpc>
                <a:spcPct val="100000"/>
              </a:lnSpc>
              <a:defRPr spc="0" sz="6887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Heuristic Function Generation</a:t>
            </a:r>
          </a:p>
        </p:txBody>
      </p:sp>
      <p:sp>
        <p:nvSpPr>
          <p:cNvPr id="212" name="Neural module learns link-wise heuristic ηθ for ACO…"/>
          <p:cNvSpPr txBox="1"/>
          <p:nvPr>
            <p:ph type="subTitle" sz="half" idx="1"/>
          </p:nvPr>
        </p:nvSpPr>
        <p:spPr>
          <a:xfrm>
            <a:off x="698499" y="3755522"/>
            <a:ext cx="11607802" cy="2806277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Neural module learns </a:t>
            </a:r>
            <a:r>
              <a:rPr b="1"/>
              <a:t>link-wise heuristic ηθ </a:t>
            </a:r>
            <a:r>
              <a:t>for ACO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Guides ants to </a:t>
            </a:r>
            <a:r>
              <a:rPr b="1"/>
              <a:t>low-cost paths</a:t>
            </a:r>
            <a:r>
              <a:t> considering resources and SFC requests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Trained via simulation with multiple ants and baseline cost evaluation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ransformer-ACO Algorithm (Steps)"/>
          <p:cNvSpPr txBox="1"/>
          <p:nvPr>
            <p:ph type="ctrTitle"/>
          </p:nvPr>
        </p:nvSpPr>
        <p:spPr>
          <a:xfrm>
            <a:off x="697871" y="918966"/>
            <a:ext cx="11609058" cy="1155511"/>
          </a:xfrm>
          <a:prstGeom prst="rect">
            <a:avLst/>
          </a:prstGeom>
        </p:spPr>
        <p:txBody>
          <a:bodyPr/>
          <a:lstStyle>
            <a:lvl1pPr defTabSz="315468">
              <a:lnSpc>
                <a:spcPct val="100000"/>
              </a:lnSpc>
              <a:defRPr spc="0" sz="5658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Transformer-ACO Algorithm (Steps)</a:t>
            </a:r>
          </a:p>
        </p:txBody>
      </p:sp>
      <p:sp>
        <p:nvSpPr>
          <p:cNvPr id="215" name="Initialize pheromones τ…"/>
          <p:cNvSpPr txBox="1"/>
          <p:nvPr>
            <p:ph type="subTitle" idx="1"/>
          </p:nvPr>
        </p:nvSpPr>
        <p:spPr>
          <a:xfrm>
            <a:off x="698500" y="2822180"/>
            <a:ext cx="11607800" cy="5653218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AutoNum type="arabicPeriod" startAt="1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Initialize pheromones τ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AutoNum type="arabicPeriod" startAt="1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Generate heuristic ηθ using trained Transformer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AutoNum type="arabicPeriod" startAt="1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For each ant:</a:t>
            </a:r>
          </a:p>
          <a:p>
            <a:pPr lvl="1" marL="914400" indent="-317500" defTabSz="457200">
              <a:spcBef>
                <a:spcPts val="1200"/>
              </a:spcBef>
              <a:buSzPct val="123000"/>
              <a:buFont typeface="Times Roman"/>
              <a:buChar char="◦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Move from source to destination using combined </a:t>
            </a:r>
            <a:r>
              <a:rPr>
                <a:latin typeface="STIX Two Math Regular"/>
                <a:ea typeface="STIX Two Math Regular"/>
                <a:cs typeface="STIX Two Math Regular"/>
                <a:sym typeface="STIX Two Math Regular"/>
              </a:rPr>
              <a:t>τ+</a:t>
            </a:r>
            <a:r>
              <a:t>ηθ </a:t>
            </a:r>
          </a:p>
          <a:p>
            <a:pPr lvl="1" marL="914400" indent="-317500" defTabSz="457200">
              <a:spcBef>
                <a:spcPts val="1200"/>
              </a:spcBef>
              <a:buSzPct val="123000"/>
              <a:buFont typeface="Times Roman"/>
              <a:buChar char="◦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Perform auto-regressive VNF embedding</a:t>
            </a:r>
          </a:p>
          <a:p>
            <a:pPr lvl="1" marL="914400" indent="-317500" defTabSz="457200">
              <a:spcBef>
                <a:spcPts val="1200"/>
              </a:spcBef>
              <a:buSzPct val="123000"/>
              <a:buFont typeface="Times Roman"/>
              <a:buChar char="◦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Evaluate cost of path + embedding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AutoNum type="arabicPeriod" startAt="1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Update pheromones: reinforce low-cost paths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AutoNum type="arabicPeriod" startAt="1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Select </a:t>
            </a:r>
            <a:r>
              <a:t>best path</a:t>
            </a:r>
            <a:r>
              <a:rPr b="0"/>
              <a:t> s∗ and </a:t>
            </a:r>
            <a:r>
              <a:t>VNF embedding</a:t>
            </a:r>
            <a:r>
              <a:rPr b="0"/>
              <a:t> v∗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imulation Setup"/>
          <p:cNvSpPr txBox="1"/>
          <p:nvPr>
            <p:ph type="ctrTitle"/>
          </p:nvPr>
        </p:nvSpPr>
        <p:spPr>
          <a:xfrm>
            <a:off x="698500" y="1529998"/>
            <a:ext cx="11609057" cy="1126981"/>
          </a:xfrm>
          <a:prstGeom prst="rect">
            <a:avLst/>
          </a:prstGeom>
        </p:spPr>
        <p:txBody>
          <a:bodyPr/>
          <a:lstStyle/>
          <a:p>
            <a:pPr defTabSz="260604">
              <a:lnSpc>
                <a:spcPct val="100000"/>
              </a:lnSpc>
              <a:spcBef>
                <a:spcPts val="800"/>
              </a:spcBef>
              <a:defRPr spc="0" sz="4674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Simulation Setup</a:t>
            </a:r>
          </a:p>
          <a:p>
            <a:pPr marL="260604" indent="-180975" defTabSz="260604">
              <a:lnSpc>
                <a:spcPct val="100000"/>
              </a:lnSpc>
              <a:buSzPct val="123000"/>
              <a:buFont typeface="Times Roman"/>
              <a:defRPr b="0" spc="0" sz="684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18" name="Topology: Walker constellation snapshot (66 &amp; 192 satellites)…"/>
          <p:cNvSpPr txBox="1"/>
          <p:nvPr>
            <p:ph type="subTitle" sz="half" idx="1"/>
          </p:nvPr>
        </p:nvSpPr>
        <p:spPr>
          <a:xfrm>
            <a:off x="698499" y="3382248"/>
            <a:ext cx="11607801" cy="3597405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Topology:</a:t>
            </a:r>
            <a:r>
              <a:t> Walker constellation snapshot (66 &amp; 192 satellites)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Software:</a:t>
            </a:r>
            <a:r>
              <a:t> Python 3.8, PyTorch 1.12, NetworkX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Hardware:</a:t>
            </a:r>
            <a:r>
              <a:t> i7-13700k, RTX 4080 GPU, 32GB RAM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Metrics:</a:t>
            </a:r>
            <a:r>
              <a:t> cost, communication success rate, delay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onvergence Analysis"/>
          <p:cNvSpPr txBox="1"/>
          <p:nvPr>
            <p:ph type="ctrTitle"/>
          </p:nvPr>
        </p:nvSpPr>
        <p:spPr>
          <a:xfrm>
            <a:off x="697871" y="666200"/>
            <a:ext cx="11609058" cy="1888340"/>
          </a:xfrm>
          <a:prstGeom prst="rect">
            <a:avLst/>
          </a:prstGeom>
        </p:spPr>
        <p:txBody>
          <a:bodyPr/>
          <a:lstStyle/>
          <a:p>
            <a:pPr defTabSz="452627">
              <a:lnSpc>
                <a:spcPct val="100000"/>
              </a:lnSpc>
              <a:spcBef>
                <a:spcPts val="1300"/>
              </a:spcBef>
              <a:defRPr spc="0" sz="8118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Convergence Analysis</a:t>
            </a:r>
          </a:p>
          <a:p>
            <a:pPr marL="452627" indent="-314325" defTabSz="452627">
              <a:lnSpc>
                <a:spcPct val="100000"/>
              </a:lnSpc>
              <a:buSzPct val="123000"/>
              <a:buFont typeface="Times Roman"/>
              <a:defRPr b="0" spc="0" sz="1188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21" name="VNF embedding cost drops: 35000 → 0 within 10 iterations…"/>
          <p:cNvSpPr txBox="1"/>
          <p:nvPr>
            <p:ph type="subTitle" sz="half" idx="1"/>
          </p:nvPr>
        </p:nvSpPr>
        <p:spPr>
          <a:xfrm>
            <a:off x="698499" y="4165130"/>
            <a:ext cx="11607801" cy="3680048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VNF embedding cost drops: 35000 → 0 within 10 iterations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SFC deployment cost stabilizes below 10 after 60 training rounds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Transformer captures </a:t>
            </a:r>
            <a:r>
              <a:t>resource-aware embeddings</a:t>
            </a:r>
            <a:r>
              <a:rPr b="0"/>
              <a:t> effectively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Heuristic Function Visualization"/>
          <p:cNvSpPr txBox="1"/>
          <p:nvPr>
            <p:ph type="ctrTitle"/>
          </p:nvPr>
        </p:nvSpPr>
        <p:spPr>
          <a:xfrm>
            <a:off x="697871" y="1272838"/>
            <a:ext cx="11609058" cy="1579689"/>
          </a:xfrm>
          <a:prstGeom prst="rect">
            <a:avLst/>
          </a:prstGeom>
        </p:spPr>
        <p:txBody>
          <a:bodyPr/>
          <a:lstStyle>
            <a:lvl1pPr defTabSz="361188">
              <a:lnSpc>
                <a:spcPct val="100000"/>
              </a:lnSpc>
              <a:spcBef>
                <a:spcPts val="1100"/>
              </a:spcBef>
              <a:defRPr spc="0" sz="6478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Heuristic Function Visualization</a:t>
            </a:r>
          </a:p>
        </p:txBody>
      </p:sp>
      <p:sp>
        <p:nvSpPr>
          <p:cNvPr id="224" name="Untrained heuristic: random, ineffective guidance…"/>
          <p:cNvSpPr txBox="1"/>
          <p:nvPr>
            <p:ph type="subTitle" sz="half" idx="1"/>
          </p:nvPr>
        </p:nvSpPr>
        <p:spPr>
          <a:xfrm>
            <a:off x="698499" y="3733701"/>
            <a:ext cx="11607801" cy="3519008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Untrained heuristic:</a:t>
            </a:r>
            <a:r>
              <a:t> random, ineffective guidance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Trained heuristic:</a:t>
            </a:r>
            <a:r>
              <a:t> high intensity along optimal paths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Example: Source 17 → Destination 50: strong links 17→28, 28→39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Helps ants converge to </a:t>
            </a:r>
            <a:r>
              <a:rPr b="1"/>
              <a:t>lower-cost paths faster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ost Performance"/>
          <p:cNvSpPr txBox="1"/>
          <p:nvPr>
            <p:ph type="ctrTitle"/>
          </p:nvPr>
        </p:nvSpPr>
        <p:spPr>
          <a:xfrm>
            <a:off x="697871" y="628285"/>
            <a:ext cx="11609058" cy="1618246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spcBef>
                <a:spcPts val="1400"/>
              </a:spcBef>
              <a:defRPr spc="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Cost Performance</a:t>
            </a:r>
          </a:p>
        </p:txBody>
      </p:sp>
      <p:sp>
        <p:nvSpPr>
          <p:cNvPr id="227" name="Untrained algorithm: cost &gt; 50…"/>
          <p:cNvSpPr txBox="1"/>
          <p:nvPr>
            <p:ph type="subTitle" sz="half" idx="1"/>
          </p:nvPr>
        </p:nvSpPr>
        <p:spPr>
          <a:xfrm>
            <a:off x="698499" y="3191801"/>
            <a:ext cx="11607801" cy="3369998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Untrained algorithm: cost &gt; 50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Trained modules: cost ~10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Fully trained Transformer decoder: reduces cost </a:t>
            </a:r>
            <a:r>
              <a:rPr b="1"/>
              <a:t>up to 54.5%</a:t>
            </a:r>
            <a:r>
              <a:t> in 192 Walker network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Neural heuristics improve ACO performance significantly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ommunication Success Rate"/>
          <p:cNvSpPr txBox="1"/>
          <p:nvPr>
            <p:ph type="ctrTitle"/>
          </p:nvPr>
        </p:nvSpPr>
        <p:spPr>
          <a:xfrm>
            <a:off x="697871" y="1159094"/>
            <a:ext cx="11609058" cy="1595683"/>
          </a:xfrm>
          <a:prstGeom prst="rect">
            <a:avLst/>
          </a:prstGeom>
        </p:spPr>
        <p:txBody>
          <a:bodyPr/>
          <a:lstStyle/>
          <a:p>
            <a:pPr defTabSz="379475">
              <a:lnSpc>
                <a:spcPct val="100000"/>
              </a:lnSpc>
              <a:spcBef>
                <a:spcPts val="1100"/>
              </a:spcBef>
              <a:defRPr spc="0" sz="6806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Communication Success Rate</a:t>
            </a:r>
          </a:p>
          <a:p>
            <a:pPr marL="379475" indent="-263525" defTabSz="379475">
              <a:lnSpc>
                <a:spcPct val="100000"/>
              </a:lnSpc>
              <a:buSzPct val="123000"/>
              <a:buFont typeface="Times Roman"/>
              <a:defRPr b="0" spc="0" sz="996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30" name="Success rate (%):…"/>
          <p:cNvSpPr txBox="1"/>
          <p:nvPr>
            <p:ph type="subTitle" sz="half" idx="1"/>
          </p:nvPr>
        </p:nvSpPr>
        <p:spPr>
          <a:xfrm>
            <a:off x="698499" y="3372522"/>
            <a:ext cx="11607801" cy="4107874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Success rate (%):</a:t>
            </a:r>
          </a:p>
          <a:p>
            <a:pPr lvl="1" marL="914400" indent="-317500" defTabSz="457200">
              <a:spcBef>
                <a:spcPts val="1200"/>
              </a:spcBef>
              <a:buSzPct val="123000"/>
              <a:buFont typeface="Times Roman"/>
              <a:buChar char="◦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66 Walker: 73.5</a:t>
            </a:r>
          </a:p>
          <a:p>
            <a:pPr lvl="1" marL="914400" indent="-317500" defTabSz="457200">
              <a:spcBef>
                <a:spcPts val="1200"/>
              </a:spcBef>
              <a:buSzPct val="123000"/>
              <a:buFont typeface="Times Roman"/>
              <a:buChar char="◦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192 Walker: 98.3</a:t>
            </a:r>
          </a:p>
          <a:p>
            <a:pPr lvl="1" marL="914400" indent="-317500" defTabSz="457200">
              <a:spcBef>
                <a:spcPts val="1200"/>
              </a:spcBef>
              <a:buSzPct val="123000"/>
              <a:buFont typeface="Times Roman"/>
              <a:buChar char="◦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Larger network: 100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Outperforms: Greedy Optimal, ACO-ManyToOne, untrained models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Better resource utilization and load balancing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Delay Performance"/>
          <p:cNvSpPr txBox="1"/>
          <p:nvPr>
            <p:ph type="ctrTitle"/>
          </p:nvPr>
        </p:nvSpPr>
        <p:spPr>
          <a:xfrm>
            <a:off x="697871" y="1222285"/>
            <a:ext cx="11609058" cy="1597362"/>
          </a:xfrm>
          <a:prstGeom prst="rect">
            <a:avLst/>
          </a:prstGeom>
        </p:spPr>
        <p:txBody>
          <a:bodyPr/>
          <a:lstStyle/>
          <a:p>
            <a:pPr defTabSz="379475">
              <a:lnSpc>
                <a:spcPct val="100000"/>
              </a:lnSpc>
              <a:spcBef>
                <a:spcPts val="1100"/>
              </a:spcBef>
              <a:defRPr spc="0" sz="6806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Delay Performance</a:t>
            </a:r>
          </a:p>
          <a:p>
            <a:pPr marL="379475" indent="-263525" defTabSz="379475">
              <a:lnSpc>
                <a:spcPct val="100000"/>
              </a:lnSpc>
              <a:buSzPct val="123000"/>
              <a:buFont typeface="Times Roman"/>
              <a:defRPr b="0" spc="0" sz="996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33" name="Average delay (ms):…"/>
          <p:cNvSpPr txBox="1"/>
          <p:nvPr>
            <p:ph type="subTitle" sz="half" idx="1"/>
          </p:nvPr>
        </p:nvSpPr>
        <p:spPr>
          <a:xfrm>
            <a:off x="698499" y="3718742"/>
            <a:ext cx="11607801" cy="4229715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Average delay (ms):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66 Walker: 38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192 Walker: 67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Larger network: 82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Slightly higher than greedy/ACO-ManyToOne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Reason: path selection avoids overloaded or under-resourced nodes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Screenshot 2025-12-03 at 11.13.49 PM.png" descr="Screenshot 2025-12-03 at 11.13.4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990" y="746299"/>
            <a:ext cx="12860820" cy="75828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Modification"/>
          <p:cNvSpPr txBox="1"/>
          <p:nvPr>
            <p:ph type="ctrTitle"/>
          </p:nvPr>
        </p:nvSpPr>
        <p:spPr>
          <a:xfrm>
            <a:off x="697871" y="211222"/>
            <a:ext cx="11609058" cy="1227050"/>
          </a:xfrm>
          <a:prstGeom prst="rect">
            <a:avLst/>
          </a:prstGeom>
        </p:spPr>
        <p:txBody>
          <a:bodyPr/>
          <a:lstStyle>
            <a:lvl1pPr defTabSz="1577876">
              <a:defRPr spc="-149" sz="7462"/>
            </a:lvl1pPr>
          </a:lstStyle>
          <a:p>
            <a:pPr/>
            <a:r>
              <a:t>Modification</a:t>
            </a:r>
          </a:p>
        </p:txBody>
      </p:sp>
      <p:sp>
        <p:nvSpPr>
          <p:cNvPr id="238" name="New Proposed Method: Genetic Algorithm (GA)…"/>
          <p:cNvSpPr txBox="1"/>
          <p:nvPr>
            <p:ph type="subTitle" idx="1"/>
          </p:nvPr>
        </p:nvSpPr>
        <p:spPr>
          <a:xfrm>
            <a:off x="698500" y="1662601"/>
            <a:ext cx="11607801" cy="7285218"/>
          </a:xfrm>
          <a:prstGeom prst="rect">
            <a:avLst/>
          </a:prstGeom>
        </p:spPr>
        <p:txBody>
          <a:bodyPr/>
          <a:lstStyle/>
          <a:p>
            <a:pPr>
              <a:defRPr sz="2900"/>
            </a:pPr>
            <a:r>
              <a:t>New Proposed Method: Genetic Algorithm (GA)</a:t>
            </a:r>
          </a:p>
          <a:p>
            <a:pPr>
              <a:lnSpc>
                <a:spcPct val="120000"/>
              </a:lnSpc>
              <a:defRPr b="0" sz="2500"/>
            </a:pPr>
            <a:r>
              <a:t>This is inspired by Darwin’s theory of natural evolution. It uses</a:t>
            </a:r>
          </a:p>
          <a:p>
            <a:pPr>
              <a:lnSpc>
                <a:spcPct val="120000"/>
              </a:lnSpc>
              <a:defRPr b="0" sz="2500"/>
            </a:pPr>
            <a:r>
              <a:t>a population of potential solutions that evolve through selection, crossover, and mutation to achieve optimization.</a:t>
            </a:r>
          </a:p>
          <a:p>
            <a:pPr>
              <a:defRPr b="0" sz="2500"/>
            </a:pPr>
          </a:p>
          <a:p>
            <a:pPr>
              <a:lnSpc>
                <a:spcPct val="120000"/>
              </a:lnSpc>
              <a:defRPr b="0" sz="2500"/>
            </a:pPr>
            <a:r>
              <a:t>GA Workflow</a:t>
            </a:r>
          </a:p>
          <a:p>
            <a:pPr>
              <a:lnSpc>
                <a:spcPct val="120000"/>
              </a:lnSpc>
              <a:defRPr b="0" sz="2500"/>
            </a:pPr>
            <a:r>
              <a:t>1. Initialization: Create random routes as initial solutions.</a:t>
            </a:r>
          </a:p>
          <a:p>
            <a:pPr>
              <a:lnSpc>
                <a:spcPct val="120000"/>
              </a:lnSpc>
              <a:defRPr b="0" sz="2500"/>
            </a:pPr>
            <a:r>
              <a:t>2. Fitness Evaluation: Measure route efficiency based on total cost (delay, energy,</a:t>
            </a:r>
          </a:p>
          <a:p>
            <a:pPr>
              <a:lnSpc>
                <a:spcPct val="120000"/>
              </a:lnSpc>
              <a:defRPr b="0" sz="2500"/>
            </a:pPr>
            <a:r>
              <a:t>CPU).</a:t>
            </a:r>
          </a:p>
          <a:p>
            <a:pPr>
              <a:lnSpc>
                <a:spcPct val="120000"/>
              </a:lnSpc>
              <a:defRPr b="0" sz="2500"/>
            </a:pPr>
            <a:r>
              <a:t>3. Selection: Choose the best-performing routes for reproduction.</a:t>
            </a:r>
          </a:p>
          <a:p>
            <a:pPr>
              <a:lnSpc>
                <a:spcPct val="120000"/>
              </a:lnSpc>
              <a:defRPr b="0" sz="2500"/>
            </a:pPr>
            <a:r>
              <a:t>4. Crossover: Mix segments of parent routes to form new routes.</a:t>
            </a:r>
          </a:p>
          <a:p>
            <a:pPr>
              <a:lnSpc>
                <a:spcPct val="120000"/>
              </a:lnSpc>
              <a:defRPr b="0" sz="2500"/>
            </a:pPr>
            <a:r>
              <a:t>5. Mutation: Swap or modify nodes randomly to maintain diversity.</a:t>
            </a:r>
          </a:p>
          <a:p>
            <a:pPr>
              <a:lnSpc>
                <a:spcPct val="120000"/>
              </a:lnSpc>
              <a:defRPr b="0" sz="2500"/>
            </a:pPr>
            <a:r>
              <a:t>6. Termination: Repeat until cost converges or generations complete.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ost Function"/>
          <p:cNvSpPr txBox="1"/>
          <p:nvPr>
            <p:ph type="ctrTitle"/>
          </p:nvPr>
        </p:nvSpPr>
        <p:spPr>
          <a:xfrm>
            <a:off x="697871" y="906328"/>
            <a:ext cx="11609058" cy="908131"/>
          </a:xfrm>
          <a:prstGeom prst="rect">
            <a:avLst/>
          </a:prstGeom>
        </p:spPr>
        <p:txBody>
          <a:bodyPr/>
          <a:lstStyle>
            <a:lvl1pPr defTabSz="375694">
              <a:lnSpc>
                <a:spcPct val="100000"/>
              </a:lnSpc>
              <a:defRPr spc="0" sz="5248"/>
            </a:lvl1pPr>
          </a:lstStyle>
          <a:p>
            <a:pPr/>
            <a:r>
              <a:t>Cost Function</a:t>
            </a:r>
          </a:p>
        </p:txBody>
      </p:sp>
      <p:sp>
        <p:nvSpPr>
          <p:cNvPr id="241" name="Total Cost = 0.5 × Delay + 0.3 × Energy + 0.2 × CPU…"/>
          <p:cNvSpPr txBox="1"/>
          <p:nvPr>
            <p:ph type="subTitle" idx="1"/>
          </p:nvPr>
        </p:nvSpPr>
        <p:spPr>
          <a:xfrm>
            <a:off x="698500" y="2454074"/>
            <a:ext cx="11607800" cy="518686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  <a:defRPr b="0" sz="2500"/>
            </a:pPr>
            <a:r>
              <a:t>Total Cost = 0.5 × Delay + 0.3 × Energy + 0.2 × CPU</a:t>
            </a:r>
          </a:p>
          <a:p>
            <a:pPr>
              <a:lnSpc>
                <a:spcPct val="120000"/>
              </a:lnSpc>
              <a:defRPr b="0" sz="2500"/>
            </a:pPr>
            <a:r>
              <a:t>The goal is to minimize this total cost value across generations.</a:t>
            </a:r>
          </a:p>
          <a:p>
            <a:pPr>
              <a:lnSpc>
                <a:spcPct val="120000"/>
              </a:lnSpc>
              <a:defRPr b="0" sz="2500"/>
            </a:pPr>
            <a:r>
              <a:t>GA Parameters Used</a:t>
            </a:r>
          </a:p>
          <a:p>
            <a:pPr>
              <a:lnSpc>
                <a:spcPct val="120000"/>
              </a:lnSpc>
              <a:defRPr b="0" sz="2500"/>
            </a:pPr>
            <a:r>
              <a:t>•  Population Size: 30</a:t>
            </a:r>
          </a:p>
          <a:p>
            <a:pPr>
              <a:lnSpc>
                <a:spcPct val="120000"/>
              </a:lnSpc>
              <a:defRPr b="0" sz="2500"/>
            </a:pPr>
            <a:r>
              <a:t>• Generations: 80</a:t>
            </a:r>
          </a:p>
          <a:p>
            <a:pPr>
              <a:lnSpc>
                <a:spcPct val="120000"/>
              </a:lnSpc>
              <a:defRPr b="0" sz="2500"/>
            </a:pPr>
            <a:r>
              <a:t>•  Crossover Rate: 0.8</a:t>
            </a:r>
          </a:p>
          <a:p>
            <a:pPr>
              <a:lnSpc>
                <a:spcPct val="120000"/>
              </a:lnSpc>
              <a:defRPr b="0" sz="2500"/>
            </a:pPr>
            <a:r>
              <a:t>•  Mutation Rate: 0.2</a:t>
            </a:r>
          </a:p>
          <a:p>
            <a:pPr>
              <a:lnSpc>
                <a:spcPct val="120000"/>
              </a:lnSpc>
              <a:defRPr b="0" sz="2500"/>
            </a:pPr>
            <a:r>
              <a:t>GA Results</a:t>
            </a:r>
          </a:p>
          <a:p>
            <a:pPr>
              <a:lnSpc>
                <a:spcPct val="120000"/>
              </a:lnSpc>
              <a:defRPr b="0" sz="2500"/>
            </a:pPr>
            <a:r>
              <a:t>•  Best Route Found: [2, 24, 25, 10, 26]</a:t>
            </a:r>
          </a:p>
          <a:p>
            <a:pPr>
              <a:lnSpc>
                <a:spcPct val="120000"/>
              </a:lnSpc>
              <a:defRPr b="0" sz="2500"/>
            </a:pPr>
            <a:r>
              <a:t>•  Minimum Cost: 292.2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Key Takeaways"/>
          <p:cNvSpPr txBox="1"/>
          <p:nvPr>
            <p:ph type="ctrTitle"/>
          </p:nvPr>
        </p:nvSpPr>
        <p:spPr>
          <a:xfrm>
            <a:off x="697871" y="1291840"/>
            <a:ext cx="11609058" cy="1544884"/>
          </a:xfrm>
          <a:prstGeom prst="rect">
            <a:avLst/>
          </a:prstGeom>
        </p:spPr>
        <p:txBody>
          <a:bodyPr/>
          <a:lstStyle/>
          <a:p>
            <a:pPr defTabSz="374904">
              <a:lnSpc>
                <a:spcPct val="100000"/>
              </a:lnSpc>
              <a:spcBef>
                <a:spcPts val="1100"/>
              </a:spcBef>
              <a:defRPr spc="0" sz="6724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Takeaways</a:t>
            </a:r>
          </a:p>
          <a:p>
            <a:pPr marL="374904" indent="-260350" defTabSz="374904">
              <a:lnSpc>
                <a:spcPct val="100000"/>
              </a:lnSpc>
              <a:buSzPct val="123000"/>
              <a:buFont typeface="Times Roman"/>
              <a:defRPr b="0" spc="0" sz="984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44" name="Transformer-ACO efficiently combines learning + optimization…"/>
          <p:cNvSpPr txBox="1"/>
          <p:nvPr>
            <p:ph type="subTitle" sz="half" idx="1"/>
          </p:nvPr>
        </p:nvSpPr>
        <p:spPr>
          <a:xfrm>
            <a:off x="698499" y="3702796"/>
            <a:ext cx="11607801" cy="4261607"/>
          </a:xfrm>
          <a:prstGeom prst="rect">
            <a:avLst/>
          </a:prstGeom>
        </p:spPr>
        <p:txBody>
          <a:bodyPr/>
          <a:lstStyle/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Transformer-ACO efficiently combines </a:t>
            </a:r>
            <a:r>
              <a:rPr b="1"/>
              <a:t>learning + optimization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Achieves:</a:t>
            </a:r>
          </a:p>
          <a:p>
            <a:pPr lvl="1" marL="914400" indent="-317500" defTabSz="457200">
              <a:spcBef>
                <a:spcPts val="1200"/>
              </a:spcBef>
              <a:buSzPct val="123000"/>
              <a:buFont typeface="Times Roman"/>
              <a:buChar char="◦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Lower cost</a:t>
            </a:r>
          </a:p>
          <a:p>
            <a:pPr lvl="1" marL="914400" indent="-317500" defTabSz="457200">
              <a:spcBef>
                <a:spcPts val="1200"/>
              </a:spcBef>
              <a:buSzPct val="123000"/>
              <a:buFont typeface="Times Roman"/>
              <a:buChar char="◦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High success rate</a:t>
            </a:r>
          </a:p>
          <a:p>
            <a:pPr lvl="1" marL="914400" indent="-317500" defTabSz="457200">
              <a:spcBef>
                <a:spcPts val="1200"/>
              </a:spcBef>
              <a:buSzPct val="123000"/>
              <a:buFont typeface="Times Roman"/>
              <a:buChar char="◦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Balanced resource utilization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Neural heuristic guides ACO and improves convergence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Future: integrate LLMs for more granular routing policies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Future Work"/>
          <p:cNvSpPr txBox="1"/>
          <p:nvPr>
            <p:ph type="ctrTitle"/>
          </p:nvPr>
        </p:nvSpPr>
        <p:spPr>
          <a:xfrm>
            <a:off x="697871" y="603009"/>
            <a:ext cx="11609058" cy="1456400"/>
          </a:xfrm>
          <a:prstGeom prst="rect">
            <a:avLst/>
          </a:prstGeom>
        </p:spPr>
        <p:txBody>
          <a:bodyPr/>
          <a:lstStyle/>
          <a:p>
            <a:pPr/>
            <a:r>
              <a:t>Future Work</a:t>
            </a:r>
          </a:p>
        </p:txBody>
      </p:sp>
      <p:sp>
        <p:nvSpPr>
          <p:cNvPr id="247" name="Neural Heuristic Fine-Tuning: Adjust heuristic function using pheromone updates to improve solution quality.…"/>
          <p:cNvSpPr txBox="1"/>
          <p:nvPr>
            <p:ph type="subTitle" idx="1"/>
          </p:nvPr>
        </p:nvSpPr>
        <p:spPr>
          <a:xfrm>
            <a:off x="698499" y="2796098"/>
            <a:ext cx="11607801" cy="5124701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Neural Heuristic Fine-Tuning:</a:t>
            </a:r>
            <a:r>
              <a:t> Adjust heuristic function using pheromone updates to improve solution quality.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Large-Scale &amp; Multi-Policy Deployment:</a:t>
            </a:r>
            <a:r>
              <a:t> Extend to bigger constellations and multiple SFCs with policy-aware routing.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LLM-based Heuristics:</a:t>
            </a:r>
            <a:r>
              <a:t> Use large language models for more adaptive and granular routing strategies.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Real-Time Deployment:</a:t>
            </a:r>
            <a:r>
              <a:t> Enable online learning and dynamic VNF embedding for changing network conditions.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Conclusion"/>
          <p:cNvSpPr txBox="1"/>
          <p:nvPr>
            <p:ph type="ctrTitle"/>
          </p:nvPr>
        </p:nvSpPr>
        <p:spPr>
          <a:xfrm>
            <a:off x="697871" y="752689"/>
            <a:ext cx="11609058" cy="1718759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spcBef>
                <a:spcPts val="1400"/>
              </a:spcBef>
              <a:defRPr spc="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50" name="Transformer-ACO effectively:…"/>
          <p:cNvSpPr txBox="1"/>
          <p:nvPr>
            <p:ph type="subTitle" idx="1"/>
          </p:nvPr>
        </p:nvSpPr>
        <p:spPr>
          <a:xfrm>
            <a:off x="698499" y="2895674"/>
            <a:ext cx="11607801" cy="4979816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Transformer-ACO effectively: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Encodes SFC and network states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Guides ants to low-cost routing paths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Embeds VNFs considering node resources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Achieves:</a:t>
            </a:r>
          </a:p>
          <a:p>
            <a:pPr marL="457200" indent="-317500" defTabSz="457200">
              <a:spcBef>
                <a:spcPts val="1200"/>
              </a:spcBef>
              <a:buSzPct val="123000"/>
              <a:buFont typeface="Times Roman"/>
              <a:buChar char="•"/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Lower cost, higher success rate, balanced load</a:t>
            </a:r>
          </a:p>
          <a:p>
            <a:pPr defTabSz="457200">
              <a:spcBef>
                <a:spcPts val="1200"/>
              </a:spcBef>
              <a:defRPr b="0"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Future work: integrate LLM-based heuristics for finer routing policies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hank You !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 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